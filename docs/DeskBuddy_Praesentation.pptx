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232" d="100"/>
        <a:sy n="232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18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asp.net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asp.net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So, dann fange ich mal an. Ich stelle euch mein Projekt </a:t>
            </a:r>
            <a:r>
              <a:rPr lang="de-CH" dirty="0" err="1"/>
              <a:t>DeskBuddy</a:t>
            </a:r>
            <a:r>
              <a:rPr lang="de-CH" dirty="0"/>
              <a:t> vor.</a:t>
            </a:r>
          </a:p>
          <a:p>
            <a:endParaRPr lang="de-CH" dirty="0"/>
          </a:p>
          <a:p>
            <a:r>
              <a:rPr lang="de-CH" dirty="0"/>
              <a:t>Das ist kleines System für den Schreibtisch, das Kalenderinformationen aus Google Calendar verarbeitet und sie auf einem kompakten Gerät sichtbar macht.</a:t>
            </a:r>
          </a:p>
          <a:p>
            <a:endParaRPr lang="de-CH" dirty="0"/>
          </a:p>
          <a:p>
            <a:r>
              <a:rPr lang="de-CH" dirty="0"/>
              <a:t>Zusätzlich gibt es ein Web-Dashboard, über das ich den Zustand des Systems und des Geräts überwachen kann.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Die Motivation hinter dem Projekt war, dass ich im Alltag schnell den Überblick über Termine, Tasks oder Events verliere.</a:t>
            </a:r>
          </a:p>
          <a:p>
            <a:endParaRPr lang="de-CH" dirty="0"/>
          </a:p>
          <a:p>
            <a:r>
              <a:rPr lang="de-CH" dirty="0"/>
              <a:t>Der </a:t>
            </a:r>
            <a:r>
              <a:rPr lang="de-CH" dirty="0" err="1"/>
              <a:t>DeskBuddy</a:t>
            </a:r>
            <a:r>
              <a:rPr lang="de-CH" dirty="0"/>
              <a:t> soll genau hier helfen: Statt den ganzen Kalender zu öffnen, bekomme ich direkt auf dem Schreibtisch die wichtigste Information angezeigt, was gerade läuft und was als Nächstes kommt. Und eine Kleine Zusammenfassung.</a:t>
            </a:r>
          </a:p>
          <a:p>
            <a:endParaRPr lang="de-CH" dirty="0"/>
          </a:p>
          <a:p>
            <a:r>
              <a:rPr lang="de-CH" dirty="0"/>
              <a:t>Die Idee ist also nicht, einen Kalender komplett zu ersetzen, sondern einen kleinen Begleiter zu haben, der im Hintergrund mitläuft und den nächsten Schritt sichtbar macht.</a:t>
            </a:r>
          </a:p>
          <a:p>
            <a:endParaRPr lang="de-CH" dirty="0"/>
          </a:p>
          <a:p>
            <a:r>
              <a:rPr lang="de-CH" dirty="0"/>
              <a:t>Nach dem Motto: geteiltes Leid ist halbes Leid, der </a:t>
            </a:r>
            <a:r>
              <a:rPr lang="de-CH" dirty="0" err="1"/>
              <a:t>DeskBuddy</a:t>
            </a:r>
            <a:r>
              <a:rPr lang="de-CH" dirty="0"/>
              <a:t> würde den Kalenderstress </a:t>
            </a:r>
            <a:r>
              <a:rPr lang="de-CH" dirty="0" err="1"/>
              <a:t>einbisschen</a:t>
            </a:r>
            <a:r>
              <a:rPr lang="de-CH" dirty="0"/>
              <a:t> mittragen.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so sieht die grobe Architektur aus</a:t>
            </a:r>
          </a:p>
          <a:p>
            <a:endParaRPr lang="de-CH" dirty="0"/>
          </a:p>
          <a:p>
            <a:r>
              <a:rPr lang="de-CH" dirty="0"/>
              <a:t>Oben sind die beiden Clients: also das React Dashboard und das ESP-Gerät. Beide kommunizieren nicht direkt mit Google Calendar, sondern immer über mein Backend.</a:t>
            </a:r>
          </a:p>
          <a:p>
            <a:endParaRPr lang="de-CH" dirty="0"/>
          </a:p>
          <a:p>
            <a:r>
              <a:rPr lang="de-CH" dirty="0"/>
              <a:t>Das Backend ist eine </a:t>
            </a:r>
            <a:r>
              <a:rPr lang="de-CH" dirty="0">
                <a:hlinkClick r:id="rId3"/>
              </a:rPr>
              <a:t>ASP.NET</a:t>
            </a:r>
            <a:r>
              <a:rPr lang="de-CH" dirty="0"/>
              <a:t> Core Web API. Dort liegen die Controller, Services und die zentrale Business-Logik. Persistente Daten werden mit EF Core in einer SQLite-Datenbank gespeichert.</a:t>
            </a:r>
          </a:p>
          <a:p>
            <a:endParaRPr lang="de-CH" dirty="0"/>
          </a:p>
          <a:p>
            <a:r>
              <a:rPr lang="de-CH" dirty="0"/>
              <a:t>Der Google Calendar wird extern über OAuth2 angebunden. Das Backend synchronisiert die Kalenderdaten und stellt sie danach intern über REST-Endpunkte bereit. </a:t>
            </a:r>
          </a:p>
          <a:p>
            <a:endParaRPr lang="de-CH" dirty="0"/>
          </a:p>
          <a:p>
            <a:r>
              <a:rPr lang="de-CH" dirty="0"/>
              <a:t>Der Vorteil ist, dass beide Clients nur die REST-API nutzen und die ganze Logik zentral im Backend bleibt.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Das Backend ist der Kern dieses Projekts.</a:t>
            </a:r>
          </a:p>
          <a:p>
            <a:endParaRPr lang="de-CH" dirty="0"/>
          </a:p>
          <a:p>
            <a:r>
              <a:rPr lang="de-CH" dirty="0"/>
              <a:t>Wie bereits erwähnt habe ich es mit </a:t>
            </a:r>
            <a:r>
              <a:rPr lang="de-CH" dirty="0">
                <a:hlinkClick r:id="rId3"/>
              </a:rPr>
              <a:t>ASP.NET</a:t>
            </a:r>
            <a:r>
              <a:rPr lang="de-CH" dirty="0"/>
              <a:t> Core 8 umgesetzt. Für die Datenbank nutze ich EF Core mit SQLite. Das passt gut, weil das Projekt lokal läuft und SQLite für ein einzelnes lokales System ausreichend ist.</a:t>
            </a:r>
          </a:p>
          <a:p>
            <a:endParaRPr lang="de-CH" dirty="0"/>
          </a:p>
          <a:p>
            <a:r>
              <a:rPr lang="de-CH" dirty="0"/>
              <a:t>Im Backend gibt es verschiedene Controller und Endpoints für Devices, Calendar Events, Authentifizierung und den Google Calendar </a:t>
            </a:r>
            <a:r>
              <a:rPr lang="de-CH" dirty="0" err="1"/>
              <a:t>Sync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/>
              <a:t>Swagger habe ich verwendet, um die API zu testen und die Endpoints übersichtlich darzustellen.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Ein wichtiges Pflichtkriterium war CRUD für mindestens zwei Objekte.</a:t>
            </a:r>
          </a:p>
          <a:p>
            <a:endParaRPr lang="de-CH" dirty="0"/>
          </a:p>
          <a:p>
            <a:r>
              <a:rPr lang="de-CH" dirty="0"/>
              <a:t>Das habe ich für </a:t>
            </a:r>
            <a:r>
              <a:rPr lang="de-CH" b="1" dirty="0"/>
              <a:t>Device</a:t>
            </a:r>
            <a:r>
              <a:rPr lang="de-CH" dirty="0"/>
              <a:t> und </a:t>
            </a:r>
            <a:r>
              <a:rPr lang="de-CH" b="1" dirty="0"/>
              <a:t>CalendarEvents</a:t>
            </a:r>
            <a:r>
              <a:rPr lang="de-CH" dirty="0"/>
              <a:t> umgesetzt. Beide können erstellt, gelesen, bearbeitet und gelöscht werden.</a:t>
            </a:r>
          </a:p>
          <a:p>
            <a:endParaRPr lang="de-CH" dirty="0"/>
          </a:p>
          <a:p>
            <a:r>
              <a:rPr lang="de-CH" dirty="0"/>
              <a:t>Zusätzlich verwende ich DTOs. Das bedeutet, dass ich nicht direkt meine internen Datenbank-Models nach aussen gebe, sondern eigene Request- und Response-Objekte verwende.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Für die Authentifizierung habe ich zwei verschiedene Ansätze gewählt.</a:t>
            </a:r>
          </a:p>
          <a:p>
            <a:endParaRPr lang="de-CH" dirty="0"/>
          </a:p>
          <a:p>
            <a:r>
              <a:rPr lang="de-CH" dirty="0"/>
              <a:t>Für das </a:t>
            </a:r>
            <a:r>
              <a:rPr lang="de-CH" dirty="0" err="1"/>
              <a:t>Fronted</a:t>
            </a:r>
            <a:r>
              <a:rPr lang="de-CH" dirty="0"/>
              <a:t> gibt es einen normalen Login. Wenn sich ein User einloggt, gibt das Backend einen JSON Web Token zurück. Diesen Token sendet das Dashboard danach bei geschützten </a:t>
            </a:r>
            <a:r>
              <a:rPr lang="de-CH" dirty="0" err="1"/>
              <a:t>Requests</a:t>
            </a:r>
            <a:r>
              <a:rPr lang="de-CH" dirty="0"/>
              <a:t> mit.</a:t>
            </a:r>
          </a:p>
          <a:p>
            <a:endParaRPr lang="de-CH" dirty="0"/>
          </a:p>
          <a:p>
            <a:r>
              <a:rPr lang="de-CH" dirty="0"/>
              <a:t>Für das ESP-Gerät habe ich keinen normalen Login verwendet, weil mein Gerät keinen Login-Screen hat. Stattdessen sendet das Gerät bei seinen </a:t>
            </a:r>
            <a:r>
              <a:rPr lang="de-CH" dirty="0" err="1"/>
              <a:t>Requests</a:t>
            </a:r>
            <a:r>
              <a:rPr lang="de-CH" dirty="0"/>
              <a:t> einen API-Key im Header mit. Das Backend prüft diesen Key und erlaubt den Zugriff nur, wenn er gültig ist.</a:t>
            </a:r>
          </a:p>
          <a:p>
            <a:endParaRPr lang="de-CH" dirty="0"/>
          </a:p>
          <a:p>
            <a:r>
              <a:rPr lang="de-CH" dirty="0"/>
              <a:t>Kurz gesagt: JWT für das Dashboard, API-Key für das Gerät.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Ich nutze im Alltag eigentlich Notion Calendar. Da Notion Calendar aber bereits nativ mit Google Calendar synchronisiert und ich für Notion Calendar keine direkte API-Schnittstelle gefunden habe, habe ich den Google Calendar als Schnittstelle gebraucht. Weil es dort die </a:t>
            </a:r>
            <a:r>
              <a:rPr lang="de-CH" dirty="0" err="1"/>
              <a:t>möglichkeit</a:t>
            </a:r>
            <a:r>
              <a:rPr lang="de-CH" dirty="0"/>
              <a:t> gab.</a:t>
            </a:r>
          </a:p>
          <a:p>
            <a:endParaRPr lang="de-CH" dirty="0"/>
          </a:p>
          <a:p>
            <a:r>
              <a:rPr lang="de-CH" dirty="0"/>
              <a:t>Die Integration ist read-only umgesetzt. Das heisst, mein System liest Kalenderdaten aus Google Calendar, schreibt aber keine Termine zurück. Der </a:t>
            </a:r>
            <a:r>
              <a:rPr lang="de-CH" dirty="0" err="1"/>
              <a:t>Sync</a:t>
            </a:r>
            <a:r>
              <a:rPr lang="de-CH" dirty="0"/>
              <a:t> läuft automatisch im Hintergrund alle 5 Minuten. Zusätzlich kann man auch ihn manuell auslösen. Beim </a:t>
            </a:r>
            <a:r>
              <a:rPr lang="de-CH" dirty="0" err="1"/>
              <a:t>Sync</a:t>
            </a:r>
            <a:r>
              <a:rPr lang="de-CH" dirty="0"/>
              <a:t> werden Events aus Google Calendar geholt und lokal in SQLite gespeichert. </a:t>
            </a:r>
          </a:p>
          <a:p>
            <a:endParaRPr lang="de-CH" dirty="0"/>
          </a:p>
          <a:p>
            <a:r>
              <a:rPr lang="de-CH" dirty="0"/>
              <a:t>Dabei verwende ich ein Full-</a:t>
            </a:r>
            <a:r>
              <a:rPr lang="de-CH" dirty="0" err="1"/>
              <a:t>Replace</a:t>
            </a:r>
            <a:r>
              <a:rPr lang="de-CH" dirty="0"/>
              <a:t>-Prinzip: alte lokale Events werden gelöscht und danach frisch eingefügt. Für diesen Use Case ist das ausreichend und bewusst einfacher gehalten.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Noch kurz Zum Frontend und zum ESP Gerät: links das React Dashboard und rechts die </a:t>
            </a:r>
            <a:r>
              <a:rPr lang="de-CH" dirty="0" err="1"/>
              <a:t>verschienden</a:t>
            </a:r>
            <a:r>
              <a:rPr lang="de-CH" dirty="0"/>
              <a:t> Ansichten und Moods vom ESP-Gerät.</a:t>
            </a:r>
          </a:p>
          <a:p>
            <a:endParaRPr lang="de-CH" dirty="0"/>
          </a:p>
          <a:p>
            <a:r>
              <a:rPr lang="de-CH" dirty="0"/>
              <a:t>Das React Dashboard dient vor allem als Monitoring- und Admin-Oberfläche. Dort kann ich mich einloggen und den Zustand des Geräts überprüfen, zum Beispiel </a:t>
            </a:r>
            <a:r>
              <a:rPr lang="de-CH" dirty="0" err="1"/>
              <a:t>Battery</a:t>
            </a:r>
            <a:r>
              <a:rPr lang="de-CH" dirty="0"/>
              <a:t>, Online/Offline-Status, Mood und die aktuellen Kalenderdaten. Das ESP-Gerät ist der physische Client. Es ruft </a:t>
            </a:r>
            <a:r>
              <a:rPr lang="de-CH" dirty="0" err="1"/>
              <a:t>regelmäsig</a:t>
            </a:r>
            <a:r>
              <a:rPr lang="de-CH" dirty="0"/>
              <a:t> die Event-Daten vom Backend ab und sendet zusätzlich </a:t>
            </a:r>
            <a:r>
              <a:rPr lang="de-CH" dirty="0" err="1"/>
              <a:t>Heartbeats</a:t>
            </a:r>
            <a:r>
              <a:rPr lang="de-CH" dirty="0"/>
              <a:t> zurück. Dadurch weiss das Backend, ob das Gerät noch online ist und in welchem Zustand es sich befindet.</a:t>
            </a:r>
          </a:p>
          <a:p>
            <a:endParaRPr lang="de-CH" dirty="0"/>
          </a:p>
          <a:p>
            <a:r>
              <a:rPr lang="de-CH" dirty="0"/>
              <a:t>Auf dem Gerät gibt es verschiedene Views: einen Face-View mit animierten Gesichtsausdrücken, einen Calendar-View für den aktuellen und nächsten Termin und einen Briefing-View für eine kompakte Tagesübersicht.</a:t>
            </a:r>
          </a:p>
          <a:p>
            <a:endParaRPr lang="de-CH" dirty="0"/>
          </a:p>
          <a:p>
            <a:r>
              <a:rPr lang="de-CH" dirty="0"/>
              <a:t>Rechts oben sieht man die verschiedenen Moods bzw. Gesichter. Diese machen das Gerät nicht nur funktional, sondern auch etwas persönlicher. Die Mood-Logik wird auf dem ESP berechnet, zum Beispiel abhängig von </a:t>
            </a:r>
            <a:r>
              <a:rPr lang="de-CH" dirty="0" err="1"/>
              <a:t>auslastung</a:t>
            </a:r>
            <a:r>
              <a:rPr lang="de-CH" dirty="0"/>
              <a:t>, Events oder Zustand.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Beim Testing habe ich verschiedene Ebenen verwendet.</a:t>
            </a:r>
          </a:p>
          <a:p>
            <a:endParaRPr lang="de-CH" dirty="0"/>
          </a:p>
          <a:p>
            <a:r>
              <a:rPr lang="de-CH" dirty="0"/>
              <a:t>Automatisiert habe ich </a:t>
            </a:r>
            <a:r>
              <a:rPr lang="de-CH" b="1" dirty="0"/>
              <a:t>20 Tests</a:t>
            </a:r>
            <a:r>
              <a:rPr lang="de-CH" dirty="0"/>
              <a:t> umgesetzt: </a:t>
            </a:r>
            <a:r>
              <a:rPr lang="de-CH" b="1" dirty="0"/>
              <a:t>13 Unit Tests</a:t>
            </a:r>
            <a:r>
              <a:rPr lang="de-CH" dirty="0"/>
              <a:t> und </a:t>
            </a:r>
            <a:r>
              <a:rPr lang="de-CH" b="1" dirty="0"/>
              <a:t>7 Integration Tests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/>
              <a:t>Die Unit Tests prüfen vor allem reine Logik, zum Beispiel die Event-Berechnung. Die Integration Tests prüfen das Zusammenspiel von API, Services und der Datenbank.</a:t>
            </a:r>
          </a:p>
          <a:p>
            <a:endParaRPr lang="de-CH" dirty="0"/>
          </a:p>
          <a:p>
            <a:r>
              <a:rPr lang="de-CH" dirty="0"/>
              <a:t>Zusätzlich habe ich manuelle Tests mit Postman, im Frontend und am ESP32-Gerät dokumentiert. Damit sind sowohl die Kernlogik als auch die wichtigsten Schnittstellen getestet.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Für ADP habe ich mit einem vereinfachten </a:t>
            </a:r>
            <a:r>
              <a:rPr lang="de-CH" dirty="0" err="1"/>
              <a:t>Scrum</a:t>
            </a:r>
            <a:r>
              <a:rPr lang="de-CH" dirty="0"/>
              <a:t>-/Kanban-Ansatz gearbeitet.</a:t>
            </a:r>
          </a:p>
          <a:p>
            <a:endParaRPr lang="de-CH" dirty="0"/>
          </a:p>
          <a:p>
            <a:r>
              <a:rPr lang="de-CH" dirty="0"/>
              <a:t>Ich habe das Projekt in mehrere Sprints aufgeteilt, von Planung und Backend bis hin zu Frontend, ESP32, Testing und Abschluss.</a:t>
            </a:r>
          </a:p>
          <a:p>
            <a:endParaRPr lang="de-CH" dirty="0"/>
          </a:p>
          <a:p>
            <a:r>
              <a:rPr lang="de-CH" dirty="0"/>
              <a:t>Die Aufgaben habe ich in Notion geplant. </a:t>
            </a:r>
          </a:p>
          <a:p>
            <a:endParaRPr lang="de-CH" dirty="0"/>
          </a:p>
          <a:p>
            <a:r>
              <a:rPr lang="de-CH" dirty="0"/>
              <a:t>Jede Aufgabe hatte einen Status, einen Sprint, eine Kategorie und Akzeptanzkriterien.</a:t>
            </a:r>
          </a:p>
          <a:p>
            <a:endParaRPr lang="de-CH" dirty="0"/>
          </a:p>
          <a:p>
            <a:r>
              <a:rPr lang="de-CH" dirty="0"/>
              <a:t>Das hat mir geholfen, den Überblick zu behalten und die Arbeit schrittweise umzusetzen.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Hier sieht man </a:t>
            </a:r>
            <a:r>
              <a:rPr lang="de-CH" dirty="0" err="1"/>
              <a:t>daS</a:t>
            </a:r>
            <a:r>
              <a:rPr lang="de-CH" dirty="0"/>
              <a:t> Board und den Fortschritt.</a:t>
            </a:r>
          </a:p>
          <a:p>
            <a:endParaRPr lang="de-CH" dirty="0"/>
          </a:p>
          <a:p>
            <a:r>
              <a:rPr lang="de-CH" dirty="0"/>
              <a:t>Ich habe die Tasks im Notion-Board gepflegt und den Fortschritt hat es automatisch aktualisiert. Zusätzlich habe ich </a:t>
            </a:r>
            <a:r>
              <a:rPr lang="de-CH" dirty="0" err="1"/>
              <a:t>Commits</a:t>
            </a:r>
            <a:r>
              <a:rPr lang="de-CH" dirty="0"/>
              <a:t> mit den jeweiligen Tasks verknüpft, damit nachvollziehbar ist, welcher Code zu welcher Aufgabe gehört.</a:t>
            </a:r>
          </a:p>
          <a:p>
            <a:endParaRPr lang="de-CH" dirty="0"/>
          </a:p>
          <a:p>
            <a:r>
              <a:rPr lang="de-CH" dirty="0"/>
              <a:t>Das war besonders hilfreich, weil man dadurch nicht nur das Endprodukt sieht, sondern auch den Entwicklungsprozess dahinter.</a:t>
            </a:r>
          </a:p>
          <a:p>
            <a:endParaRPr lang="de-CH" dirty="0"/>
          </a:p>
          <a:p>
            <a:r>
              <a:rPr lang="de-CH" dirty="0"/>
              <a:t>Da ich alleine am Projekt gearbeitet habe, habe ich bewusst keinen Branch-Workflow verwendet, sondern hauptsächlich direkt auf </a:t>
            </a:r>
            <a:r>
              <a:rPr lang="de-CH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de-CH" dirty="0"/>
              <a:t> gearbeitet. </a:t>
            </a:r>
          </a:p>
          <a:p>
            <a:endParaRPr lang="de-CH" dirty="0"/>
          </a:p>
          <a:p>
            <a:r>
              <a:rPr lang="de-CH" dirty="0"/>
              <a:t>Dafür habe ich darauf geachtet, regelmässig zu committen und die Änderungen den passenden Tasks zuzuordnen.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Im Rückblick gab es mehrere Dinge, die gut funktioniert haben.</a:t>
            </a:r>
          </a:p>
          <a:p>
            <a:endParaRPr lang="de-CH" dirty="0"/>
          </a:p>
          <a:p>
            <a:r>
              <a:rPr lang="de-CH" dirty="0"/>
              <a:t>Gut funktioniert haben vor allem der Google-</a:t>
            </a:r>
            <a:r>
              <a:rPr lang="de-CH" dirty="0" err="1"/>
              <a:t>Sync</a:t>
            </a:r>
            <a:r>
              <a:rPr lang="de-CH" dirty="0"/>
              <a:t>, die ESP-Anbindung und die automatisierten Tests. Gerade beim Backend konnte ich viele zentrale Funktionen sauber umsetzen und testen.</a:t>
            </a:r>
          </a:p>
          <a:p>
            <a:endParaRPr lang="de-CH" dirty="0"/>
          </a:p>
          <a:p>
            <a:r>
              <a:rPr lang="de-CH" dirty="0"/>
              <a:t>Schwieriger waren vor allem das EF-Tracking beim Kalender-</a:t>
            </a:r>
            <a:r>
              <a:rPr lang="de-CH" dirty="0" err="1"/>
              <a:t>Sync</a:t>
            </a:r>
            <a:r>
              <a:rPr lang="de-CH" dirty="0"/>
              <a:t>, der OAuth2-Flow und weitere kleinere Probleme.</a:t>
            </a:r>
          </a:p>
          <a:p>
            <a:endParaRPr lang="de-CH" dirty="0"/>
          </a:p>
          <a:p>
            <a:r>
              <a:rPr lang="de-CH" dirty="0"/>
              <a:t>Ein weiterer Punkt war die Hardware: Das ESP-Gerät wurde erst relativ spät wirklich integriert, auch wegen der Lieferung und weil zuerst Backend und Frontend stabil stehen mussten.</a:t>
            </a:r>
          </a:p>
          <a:p>
            <a:endParaRPr lang="de-CH" dirty="0"/>
          </a:p>
          <a:p>
            <a:r>
              <a:rPr lang="de-CH" dirty="0"/>
              <a:t>Für ein nächstes Projekt würde ich deshalb früher mit der Hardware testen und Konfigurationen wie JWT, API-Key oder Google-Credentials zentraler und sauberer über Secrets oder Umgebungsvariablen verwalten.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Zusammenfassend habe ich das Projekt umgesetzten bestehend aus Backend, React Dashboard und einem ESP32-Client.</a:t>
            </a:r>
          </a:p>
          <a:p>
            <a:endParaRPr lang="de-CH" dirty="0"/>
          </a:p>
          <a:p>
            <a:r>
              <a:rPr lang="de-CH" dirty="0"/>
              <a:t>Gelernt habe ich vor allem, wie viele Teile zusammenspielen müssen, damit ein verteiltes System wirklich funktioniert.</a:t>
            </a:r>
          </a:p>
          <a:p>
            <a:endParaRPr lang="de-CH" dirty="0"/>
          </a:p>
          <a:p>
            <a:r>
              <a:rPr lang="de-CH" dirty="0"/>
              <a:t>Als nächste Schritte könnte man das System in die Cloud deployen, mehrere Geräte einbinden und das Frontend mit einer Geräteauswahl erweitern.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6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DESKBUDDY SYSTEM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86384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digitaler Kumpel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Schreibtisch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41248" y="4103771"/>
            <a:ext cx="2926080" cy="0"/>
          </a:xfrm>
          <a:prstGeom prst="line">
            <a:avLst/>
          </a:prstGeom>
          <a:noFill/>
          <a:ln w="317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6" name="Text 4"/>
          <p:cNvSpPr/>
          <p:nvPr/>
        </p:nvSpPr>
        <p:spPr>
          <a:xfrm>
            <a:off x="822960" y="424723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PROG3 + ADP</a:t>
            </a:r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Venurshan Manivannan   ·   Juni 2026</a:t>
            </a:r>
            <a:endParaRPr lang="en-US" sz="1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EINLEITUNG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Lösung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023360"/>
          </a:xfrm>
          <a:prstGeom prst="roundRect">
            <a:avLst>
              <a:gd name="adj" fmla="val 2727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1151065" y="234517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5425" y="236345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verliert den Überblick über Termine.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Ständiges Nachschauen im Kalender.</a:t>
            </a:r>
            <a:endParaRPr lang="en-US" sz="15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ganze Tag auf einmal - unübersichtlich.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55080" y="1783080"/>
            <a:ext cx="5257800" cy="4023360"/>
          </a:xfrm>
          <a:prstGeom prst="roundRect">
            <a:avLst>
              <a:gd name="adj" fmla="val 2727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6957505" y="234517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51865" y="236345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6720840" y="27889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aktueller + nächster Termin - direkt auf dem Tisch.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Physisches Gerät und Web-Dashboard.</a:t>
            </a:r>
            <a:endParaRPr lang="en-US" sz="15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Mood-/Gesichtsanzeige macht es </a:t>
            </a:r>
            <a:r>
              <a:rPr lang="en-US" sz="1500" dirty="0" err="1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menschlicher</a:t>
            </a: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UMSETZUNG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25824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724912"/>
            <a:ext cx="2834640" cy="1828800"/>
          </a:xfrm>
          <a:prstGeom prst="roundRect">
            <a:avLst>
              <a:gd name="adj" fmla="val 6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1847088" y="298094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93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ESP32-Gerät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· RoboEyes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00600" y="2450592"/>
            <a:ext cx="2834640" cy="1828800"/>
          </a:xfrm>
          <a:prstGeom prst="roundRect">
            <a:avLst>
              <a:gd name="adj" fmla="val 6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5961888" y="2706624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319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API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92040" y="3657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Services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915400" y="2724912"/>
            <a:ext cx="2834640" cy="1828800"/>
          </a:xfrm>
          <a:prstGeom prst="roundRect">
            <a:avLst>
              <a:gd name="adj" fmla="val 6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10076688" y="2980944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3593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00684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Polling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00600" y="4645152"/>
            <a:ext cx="2834640" cy="1737360"/>
          </a:xfrm>
          <a:prstGeom prst="roundRect">
            <a:avLst>
              <a:gd name="adj" fmla="val 6316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5961888" y="4901184"/>
            <a:ext cx="512064" cy="5120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00600" y="5513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EF Core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892040" y="5852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· Events · Users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3520440" y="3639312"/>
            <a:ext cx="1280160" cy="0"/>
          </a:xfrm>
          <a:prstGeom prst="line">
            <a:avLst/>
          </a:prstGeom>
          <a:noFill/>
          <a:ln w="25400">
            <a:solidFill>
              <a:schemeClr val="bg1">
                <a:alpha val="85000"/>
              </a:scheme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17"/>
          <p:cNvSpPr/>
          <p:nvPr/>
        </p:nvSpPr>
        <p:spPr>
          <a:xfrm>
            <a:off x="7635240" y="3639312"/>
            <a:ext cx="1280160" cy="0"/>
          </a:xfrm>
          <a:prstGeom prst="line">
            <a:avLst/>
          </a:prstGeom>
          <a:noFill/>
          <a:ln w="25400">
            <a:solidFill>
              <a:schemeClr val="bg1">
                <a:alpha val="85000"/>
              </a:scheme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18"/>
          <p:cNvSpPr/>
          <p:nvPr/>
        </p:nvSpPr>
        <p:spPr>
          <a:xfrm>
            <a:off x="6217920" y="4281574"/>
            <a:ext cx="0" cy="357512"/>
          </a:xfrm>
          <a:prstGeom prst="line">
            <a:avLst/>
          </a:prstGeom>
          <a:noFill/>
          <a:ln w="25400">
            <a:solidFill>
              <a:schemeClr val="bg1">
                <a:alpha val="85000"/>
              </a:schemeClr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25" name="Text 19"/>
          <p:cNvSpPr/>
          <p:nvPr/>
        </p:nvSpPr>
        <p:spPr>
          <a:xfrm>
            <a:off x="352044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/ JSON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763524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/ JSON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4701276" y="969265"/>
            <a:ext cx="31310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Google Calendar API  </a:t>
            </a: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OAuth2, read-only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44BBBAA-BF9C-C96B-BFC7-5ACAADE25DB3}"/>
              </a:ext>
            </a:extLst>
          </p:cNvPr>
          <p:cNvCxnSpPr>
            <a:cxnSpLocks/>
          </p:cNvCxnSpPr>
          <p:nvPr/>
        </p:nvCxnSpPr>
        <p:spPr>
          <a:xfrm>
            <a:off x="6217920" y="1679750"/>
            <a:ext cx="0" cy="745678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UMSETZUNG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3200400" y="20848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18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347472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3200400" y="36393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Auth-Methoden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1527670" y="5212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EF Core 8  ·  SQLite  ·  Swagger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80760" y="372618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🖼  </a:t>
            </a:r>
            <a:r>
              <a:rPr lang="en-US" sz="1300" b="1" dirty="0">
                <a:solidFill>
                  <a:srgbClr val="9A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Swagger / API-Übersicht]</a:t>
            </a:r>
            <a:endParaRPr lang="en-US" sz="16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D5C7386C-EADF-EE77-FA53-FA4F9A368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35"/>
          <a:stretch>
            <a:fillRect/>
          </a:stretch>
        </p:blipFill>
        <p:spPr>
          <a:xfrm>
            <a:off x="5979457" y="1926964"/>
            <a:ext cx="5623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UMSETZUNG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&amp; DTOs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291840" cy="1920240"/>
          </a:xfrm>
          <a:prstGeom prst="roundRect">
            <a:avLst>
              <a:gd name="adj" fmla="val 5714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22960" y="2240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49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023360" y="1965960"/>
            <a:ext cx="3291840" cy="1920240"/>
          </a:xfrm>
          <a:prstGeom prst="roundRect">
            <a:avLst>
              <a:gd name="adj" fmla="val 5714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297680" y="2240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22494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CalendarEvent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29768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6766560" cy="1874520"/>
          </a:xfrm>
          <a:prstGeom prst="roundRect">
            <a:avLst>
              <a:gd name="adj" fmla="val 5854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2">
                <a:lumMod val="75000"/>
                <a:alpha val="45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2"/>
          <p:cNvSpPr/>
          <p:nvPr/>
        </p:nvSpPr>
        <p:spPr>
          <a:xfrm>
            <a:off x="82296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DTO-Layer trennt intern von öffentlich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868680" y="4685724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de-CH" sz="1400" dirty="0">
                <a:solidFill>
                  <a:schemeClr val="bg1"/>
                </a:solidFill>
              </a:rPr>
              <a:t>• Request-DTOs validieren Eingaben</a:t>
            </a:r>
            <a:br>
              <a:rPr lang="de-CH" sz="1400" dirty="0">
                <a:solidFill>
                  <a:schemeClr val="bg1"/>
                </a:solidFill>
              </a:rPr>
            </a:br>
            <a:r>
              <a:rPr lang="de-CH" sz="1400" dirty="0">
                <a:solidFill>
                  <a:schemeClr val="bg1"/>
                </a:solidFill>
              </a:rPr>
              <a:t>• Response-DTOs verbergen interne Felder</a:t>
            </a:r>
            <a:br>
              <a:rPr lang="de-CH" sz="1400" dirty="0">
                <a:solidFill>
                  <a:schemeClr val="bg1"/>
                </a:solidFill>
              </a:rPr>
            </a:br>
            <a:r>
              <a:rPr lang="de-CH" sz="1400" dirty="0">
                <a:solidFill>
                  <a:schemeClr val="bg1"/>
                </a:solidFill>
              </a:rPr>
              <a:t>Beispiel: ApiKey wird nie zurückgegeben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7726680" y="37261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🖼  </a:t>
            </a:r>
            <a:r>
              <a:rPr lang="en-US" sz="1300" b="1" dirty="0">
                <a:solidFill>
                  <a:srgbClr val="9A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Swagger Devices-Endpoints]</a:t>
            </a:r>
            <a:endParaRPr lang="en-US" sz="1600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CDD4B63-1031-98E3-4F93-01A97BAD82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798" r="68627" b="-798"/>
          <a:stretch>
            <a:fillRect/>
          </a:stretch>
        </p:blipFill>
        <p:spPr>
          <a:xfrm>
            <a:off x="7619999" y="1952512"/>
            <a:ext cx="4130041" cy="4120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UMSETZUNG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409713"/>
            <a:ext cx="5257800" cy="2743200"/>
          </a:xfrm>
          <a:prstGeom prst="roundRect">
            <a:avLst>
              <a:gd name="adj" fmla="val 4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68680" y="2729753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748041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User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3415553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für Admin / Dashboard, 8h gültig.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Passwörter mit BCrypt gehasht.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Admin-User wird beim Start angelegt.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2409713"/>
            <a:ext cx="5257800" cy="2743200"/>
          </a:xfrm>
          <a:prstGeom prst="roundRect">
            <a:avLst>
              <a:gd name="adj" fmla="val 4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6675120" y="2729753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748041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- für 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720840" y="3415553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Header für den ESP32.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Auth-Filter prüft den Key.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liegt im git-ignorierten Geräte-Ordner.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547295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UMSETZUNG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Integration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49710" y="2587216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bg2">
              <a:lumMod val="10000"/>
              <a:alpha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4177726" y="27152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99518" y="2550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OAuth2, read-only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99518" y="2843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lesen, nie auf Google schreiben.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49710" y="3410176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bg2">
              <a:lumMod val="10000"/>
              <a:alpha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177726" y="35381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9518" y="33736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Full-Replace-Sync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99518" y="3666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löschen &amp; neu </a:t>
            </a:r>
            <a:r>
              <a:rPr lang="en-US" sz="1150" dirty="0" err="1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einfügen</a:t>
            </a:r>
            <a:r>
              <a:rPr lang="en-US" sz="115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keine Duplikate.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049710" y="4233136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bg2">
              <a:lumMod val="10000"/>
              <a:alpha val="90000"/>
            </a:schemeClr>
          </a:solidFill>
          <a:ln w="12700">
            <a:solidFill>
              <a:schemeClr val="bg1">
                <a:alpha val="65000"/>
              </a:scheme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4177726" y="436115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99518" y="41965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Background-Service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99518" y="4489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alle 5 Min, manuell auslösbar.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049710" y="5056096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bg2">
              <a:lumMod val="10000"/>
              <a:alpha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4177726" y="5184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99518" y="5019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Kalender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799518" y="5312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Firmen-Kalender als ICS-Abo eingebunden.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UMSETZUNG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2160267" y="11194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17467" y="11194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268643" y="1119835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88903" y="1119835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Gerät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947D0C8-DC8C-ADE5-E4D2-915EEF7CC7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79" t="2650" r="2817" b="3675"/>
          <a:stretch>
            <a:fillRect/>
          </a:stretch>
        </p:blipFill>
        <p:spPr>
          <a:xfrm>
            <a:off x="466839" y="1924668"/>
            <a:ext cx="5364787" cy="404811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7C631ED1-69C5-BADD-AD7C-B88D9018A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312" y="4521947"/>
            <a:ext cx="2122830" cy="212283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003708A-55D6-EE59-47A6-A90CD4D62C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457" y="4546866"/>
            <a:ext cx="2122830" cy="21228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A9EBF77D-2DB0-810B-A1A4-F72B4D6308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991" y="1865404"/>
            <a:ext cx="1065600" cy="10656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E79C9155-85C9-B8E1-3F0A-C969A3A000CF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6550444" y="3203865"/>
            <a:ext cx="1066943" cy="1066943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215736D5-B66D-90CD-73D9-057409286B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895679" y="3182882"/>
            <a:ext cx="1170883" cy="1170883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8BB444C4-7C06-D737-D8A4-0C3A83BD33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3208" y="3279416"/>
            <a:ext cx="1059505" cy="105950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BDD15E7F-AF3D-74C9-B8F0-145F7DD556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9359" y="1835615"/>
            <a:ext cx="1059505" cy="1059505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97FD13E5-F21C-203E-0A86-0343671127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6521325" y="1835615"/>
            <a:ext cx="1125179" cy="1125179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A331D2AE-41B0-D402-6415-368F62F80F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9297960" y="1782210"/>
            <a:ext cx="1170000" cy="117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581268AD-43FF-D90A-2A06-ABCDFE9E30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99359" y="3306181"/>
            <a:ext cx="1032740" cy="1032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TECHNISCHE UMSETZUNG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09800" y="1593127"/>
            <a:ext cx="2743200" cy="1371600"/>
          </a:xfrm>
          <a:prstGeom prst="roundRect">
            <a:avLst>
              <a:gd name="adj" fmla="val 8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191512" y="1707427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301240" y="2278927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35880" y="1593127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135880" y="183139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135880" y="2324647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50480" y="1593127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7650480" y="1836189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50480" y="2324647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Integration-Tests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09800" y="3147607"/>
            <a:ext cx="7772400" cy="960120"/>
          </a:xfrm>
          <a:prstGeom prst="roundRect">
            <a:avLst>
              <a:gd name="adj" fmla="val 11429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2">
                <a:lumMod val="75000"/>
                <a:alpha val="45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2438400" y="3284767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manuell:  </a:t>
            </a: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Postman  ·  12 Frontend  ·  7 Device</a:t>
            </a:r>
            <a:endParaRPr lang="en-US" sz="1400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79BAA07-CE32-6E43-E55A-6D1082F688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3" r="1828" b="20771"/>
          <a:stretch>
            <a:fillRect/>
          </a:stretch>
        </p:blipFill>
        <p:spPr>
          <a:xfrm>
            <a:off x="2215699" y="4290608"/>
            <a:ext cx="7777452" cy="2007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AGILER PROZESS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Methode &amp; Sprints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306106" y="2093976"/>
            <a:ext cx="3657600" cy="4114800"/>
          </a:xfrm>
          <a:prstGeom prst="roundRect">
            <a:avLst>
              <a:gd name="adj" fmla="val 3000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2626146" y="241401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80426" y="29626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/ Scrum-Hybrid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626146" y="3557016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Notion organisiert.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&gt; In Progress &gt; Done.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Akzeptanzkriterien pro Task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74848" y="2211031"/>
            <a:ext cx="420624" cy="42062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9"/>
          <p:cNvSpPr/>
          <p:nvPr/>
        </p:nvSpPr>
        <p:spPr>
          <a:xfrm>
            <a:off x="7374848" y="221103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69208" y="219274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Planung, Backlog, Architektur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374848" y="2777959"/>
            <a:ext cx="420624" cy="42062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7374848" y="277795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69208" y="2759671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Backend-Setup (EF Core, SQLite, CRUD)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374848" y="3344887"/>
            <a:ext cx="420624" cy="42062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8" name="Text 15"/>
          <p:cNvSpPr/>
          <p:nvPr/>
        </p:nvSpPr>
        <p:spPr>
          <a:xfrm>
            <a:off x="7374848" y="334488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69208" y="3326599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Integration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374848" y="3911815"/>
            <a:ext cx="420624" cy="42062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8"/>
          <p:cNvSpPr/>
          <p:nvPr/>
        </p:nvSpPr>
        <p:spPr>
          <a:xfrm>
            <a:off x="7374848" y="391181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7969208" y="3893527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(JWT, API-Key), Device Monitoring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374848" y="4478743"/>
            <a:ext cx="420624" cy="42062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1"/>
          <p:cNvSpPr/>
          <p:nvPr/>
        </p:nvSpPr>
        <p:spPr>
          <a:xfrm>
            <a:off x="7374848" y="4478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969208" y="4460455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374848" y="5045671"/>
            <a:ext cx="420624" cy="42062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4"/>
          <p:cNvSpPr/>
          <p:nvPr/>
        </p:nvSpPr>
        <p:spPr>
          <a:xfrm>
            <a:off x="7374848" y="504567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7969208" y="502738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Device Client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374848" y="5612599"/>
            <a:ext cx="420624" cy="42062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7"/>
          <p:cNvSpPr/>
          <p:nvPr/>
        </p:nvSpPr>
        <p:spPr>
          <a:xfrm>
            <a:off x="7374848" y="561259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7969208" y="5594311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Dokumentation, Abschluss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319664" y="16421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1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AGILER PROZESS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Fortschritt &amp; Commits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957171" y="4699574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bg2">
              <a:lumMod val="10000"/>
              <a:alpha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1085187" y="482759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52699" y="4782165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↔ Tasks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57171" y="5568254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bg2">
              <a:lumMod val="10000"/>
              <a:alpha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1085187" y="569627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52699" y="565512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sauber</a:t>
            </a:r>
            <a:endParaRPr lang="en-US" sz="150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4AE45F97-039D-1094-CF25-0D087D3603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310" b="3247"/>
          <a:stretch>
            <a:fillRect/>
          </a:stretch>
        </p:blipFill>
        <p:spPr>
          <a:xfrm>
            <a:off x="4571116" y="1588844"/>
            <a:ext cx="6886357" cy="4709749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024E2B3-F2BF-5A4C-2189-11FEAA6AE9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505" r="7883" b="4727"/>
          <a:stretch>
            <a:fillRect/>
          </a:stretch>
        </p:blipFill>
        <p:spPr>
          <a:xfrm>
            <a:off x="957171" y="1584568"/>
            <a:ext cx="2937879" cy="26569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840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10195560" y="384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AGILER PROZESS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Rückblick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777240" y="2539113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 gut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Google-Sync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ESP32-Anbindung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526280" y="2539113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EF-Tracking beim Sync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DLL-Lock beim Testen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OAuth2-Flow</a:t>
            </a:r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</a:t>
            </a:r>
            <a:r>
              <a:rPr lang="en-US" sz="1300" dirty="0" err="1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lieferung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8275320" y="2539113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Nächstes Mal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21040" y="27889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JWT-Key in Secrets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hardcoded Device-ID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Firmen-Kalender früher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22960" y="12801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1298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2286000"/>
            <a:ext cx="5120640" cy="3108960"/>
          </a:xfrm>
          <a:prstGeom prst="roundRect">
            <a:avLst>
              <a:gd name="adj" fmla="val 3529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/>
          <p:nvPr/>
        </p:nvSpPr>
        <p:spPr>
          <a:xfrm>
            <a:off x="109728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Erreicht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143000" y="30632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Vollständiges System: Gerät ↔ Backend ↔ Dashboard.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Module abgedeckt (PROG3 + ADP).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Gelernt: Zusammenspiel Hardware, API &amp; Frontend; sauberes Testen; agiles Arbeiten.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2286000"/>
            <a:ext cx="5120640" cy="3108960"/>
          </a:xfrm>
          <a:prstGeom prst="roundRect">
            <a:avLst>
              <a:gd name="adj" fmla="val 3529"/>
            </a:avLst>
          </a:prstGeom>
          <a:solidFill>
            <a:schemeClr val="tx1">
              <a:lumMod val="85000"/>
              <a:lumOff val="15000"/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6492240" y="24871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2514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6537960" y="30632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Cloud-Deploy statt lokal.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Geräte + Geräteauswahl im Frontend.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</a:t>
            </a:r>
            <a:r>
              <a:rPr lang="en-US" sz="1500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Dank!</a:t>
            </a:r>
            <a:endParaRPr lang="en-US" sz="15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1750</Words>
  <Application>Microsoft Office PowerPoint</Application>
  <PresentationFormat>Breitbild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DeskBuddy System</dc:title>
  <dc:subject>PptxGenJS Presentation</dc:subject>
  <dc:creator>Venurshan Manivannan</dc:creator>
  <cp:lastModifiedBy>Venurshan Manivannan</cp:lastModifiedBy>
  <cp:revision>13</cp:revision>
  <dcterms:created xsi:type="dcterms:W3CDTF">2026-06-03T16:15:23Z</dcterms:created>
  <dcterms:modified xsi:type="dcterms:W3CDTF">2026-06-05T08:12:38Z</dcterms:modified>
</cp:coreProperties>
</file>